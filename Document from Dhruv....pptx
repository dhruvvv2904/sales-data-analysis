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73" r:id="rId3"/>
    <p:sldId id="274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63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3FA"/>
    <a:srgbClr val="345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dhere" userId="ea35689419731692" providerId="LiveId" clId="{733838C1-1739-496C-8474-ECF2106C34BF}"/>
    <pc:docChg chg="undo custSel modSld">
      <pc:chgData name="dhruv dhere" userId="ea35689419731692" providerId="LiveId" clId="{733838C1-1739-496C-8474-ECF2106C34BF}" dt="2026-02-28T10:01:06.163" v="4" actId="732"/>
      <pc:docMkLst>
        <pc:docMk/>
      </pc:docMkLst>
      <pc:sldChg chg="modSp mod">
        <pc:chgData name="dhruv dhere" userId="ea35689419731692" providerId="LiveId" clId="{733838C1-1739-496C-8474-ECF2106C34BF}" dt="2026-02-28T10:01:06.163" v="4" actId="732"/>
        <pc:sldMkLst>
          <pc:docMk/>
          <pc:sldMk cId="3356867976" sldId="258"/>
        </pc:sldMkLst>
        <pc:picChg chg="mod modCrop">
          <ac:chgData name="dhruv dhere" userId="ea35689419731692" providerId="LiveId" clId="{733838C1-1739-496C-8474-ECF2106C34BF}" dt="2026-02-28T10:01:06.163" v="4" actId="732"/>
          <ac:picMkLst>
            <pc:docMk/>
            <pc:sldMk cId="3356867976" sldId="258"/>
            <ac:picMk id="4" creationId="{0A090C29-D23A-0EA1-A377-5A4D37003B7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8778BF-E92D-4ABF-AC9A-21DFA17CED6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734EF5A-0486-4A9B-8312-CD19DAA8EEA1}">
      <dgm:prSet/>
      <dgm:spPr>
        <a:solidFill>
          <a:srgbClr val="345DA6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Conclusion:  “</a:t>
          </a:r>
          <a:r>
            <a:rPr lang="en-IN" b="1" i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Turning Data into Decisions</a:t>
          </a:r>
          <a:r>
            <a: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.”</a:t>
          </a: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B44913-F8F7-4BAD-B352-FF43358BCEC7}" type="parTrans" cxnId="{0991EFB5-9477-4F1A-B655-6ED47DD23D3C}">
      <dgm:prSet/>
      <dgm:spPr/>
      <dgm:t>
        <a:bodyPr/>
        <a:lstStyle/>
        <a:p>
          <a:endParaRPr lang="en-US"/>
        </a:p>
      </dgm:t>
    </dgm:pt>
    <dgm:pt modelId="{4CCD256B-A01C-483C-8ABD-90BD22167F33}" type="sibTrans" cxnId="{0991EFB5-9477-4F1A-B655-6ED47DD23D3C}">
      <dgm:prSet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7C4AD3F5-6DA7-4C6B-AC38-663AB5CA1C78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algn="ctr"/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analysis helps businesses make informed and strategic decisions.</a:t>
          </a:r>
        </a:p>
      </dgm:t>
    </dgm:pt>
    <dgm:pt modelId="{233C0969-5128-47B7-9C21-C2FB130BB2D1}" type="parTrans" cxnId="{39423340-7749-493B-A9EF-56479C71C747}">
      <dgm:prSet/>
      <dgm:spPr/>
      <dgm:t>
        <a:bodyPr/>
        <a:lstStyle/>
        <a:p>
          <a:endParaRPr lang="en-US"/>
        </a:p>
      </dgm:t>
    </dgm:pt>
    <dgm:pt modelId="{99037354-6755-468C-B35E-4138A3C1EEF0}" type="sibTrans" cxnId="{39423340-7749-493B-A9EF-56479C71C747}">
      <dgm:prSet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DC0424DF-B61D-4DA6-95EC-F1D99E7C19BF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ctr"/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Visualizing trends improves understanding of performance patterns.</a:t>
          </a:r>
        </a:p>
      </dgm:t>
    </dgm:pt>
    <dgm:pt modelId="{66E38CD7-68DA-4C3F-942B-B599F0893A54}" type="parTrans" cxnId="{955F63F7-094B-4A10-B763-DAD9589B8F81}">
      <dgm:prSet/>
      <dgm:spPr/>
      <dgm:t>
        <a:bodyPr/>
        <a:lstStyle/>
        <a:p>
          <a:endParaRPr lang="en-US"/>
        </a:p>
      </dgm:t>
    </dgm:pt>
    <dgm:pt modelId="{1860E23F-1D2D-4903-B2D2-FB42E9F23F49}" type="sibTrans" cxnId="{955F63F7-094B-4A10-B763-DAD9589B8F81}">
      <dgm:prSet/>
      <dgm:spPr>
        <a:ln>
          <a:solidFill>
            <a:schemeClr val="tx1">
              <a:lumMod val="85000"/>
              <a:lumOff val="15000"/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92A79E04-D3EA-4DD8-8E56-9BEA70D21DC1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/>
          <a:r>
            <a: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Data-driven</a:t>
          </a:r>
          <a:r>
            <a:rPr lang="en-US" dirty="0">
              <a:solidFill>
                <a:schemeClr val="tx1"/>
              </a:solidFill>
            </a:rPr>
            <a:t> planning increases profitability and operational efficiency.</a:t>
          </a:r>
        </a:p>
      </dgm:t>
    </dgm:pt>
    <dgm:pt modelId="{0414E5A9-7D2B-48C5-8BBF-7C53E9B493B7}" type="parTrans" cxnId="{FFB40FB3-A8E7-4084-A0AC-7CFFD9FF3823}">
      <dgm:prSet/>
      <dgm:spPr/>
      <dgm:t>
        <a:bodyPr/>
        <a:lstStyle/>
        <a:p>
          <a:endParaRPr lang="en-US"/>
        </a:p>
      </dgm:t>
    </dgm:pt>
    <dgm:pt modelId="{8CDA899A-338D-4708-A6D9-BBD0F6ED973A}" type="sibTrans" cxnId="{FFB40FB3-A8E7-4084-A0AC-7CFFD9FF3823}">
      <dgm:prSet/>
      <dgm:spPr/>
      <dgm:t>
        <a:bodyPr/>
        <a:lstStyle/>
        <a:p>
          <a:endParaRPr lang="en-US"/>
        </a:p>
      </dgm:t>
    </dgm:pt>
    <dgm:pt modelId="{FA2CDF75-2FD7-4D05-885B-EF8C616465BC}" type="pres">
      <dgm:prSet presAssocID="{068778BF-E92D-4ABF-AC9A-21DFA17CED6A}" presName="outerComposite" presStyleCnt="0">
        <dgm:presLayoutVars>
          <dgm:chMax val="5"/>
          <dgm:dir/>
          <dgm:resizeHandles val="exact"/>
        </dgm:presLayoutVars>
      </dgm:prSet>
      <dgm:spPr/>
    </dgm:pt>
    <dgm:pt modelId="{A87949D7-7F94-4B44-9F5A-34E787B63514}" type="pres">
      <dgm:prSet presAssocID="{068778BF-E92D-4ABF-AC9A-21DFA17CED6A}" presName="dummyMaxCanvas" presStyleCnt="0">
        <dgm:presLayoutVars/>
      </dgm:prSet>
      <dgm:spPr/>
    </dgm:pt>
    <dgm:pt modelId="{6D40135D-B3C9-491C-9D03-C6B608D3B2A0}" type="pres">
      <dgm:prSet presAssocID="{068778BF-E92D-4ABF-AC9A-21DFA17CED6A}" presName="FourNodes_1" presStyleLbl="node1" presStyleIdx="0" presStyleCnt="4">
        <dgm:presLayoutVars>
          <dgm:bulletEnabled val="1"/>
        </dgm:presLayoutVars>
      </dgm:prSet>
      <dgm:spPr/>
    </dgm:pt>
    <dgm:pt modelId="{84DFB34D-CFD5-436F-B0E4-74C2ED285F70}" type="pres">
      <dgm:prSet presAssocID="{068778BF-E92D-4ABF-AC9A-21DFA17CED6A}" presName="FourNodes_2" presStyleLbl="node1" presStyleIdx="1" presStyleCnt="4">
        <dgm:presLayoutVars>
          <dgm:bulletEnabled val="1"/>
        </dgm:presLayoutVars>
      </dgm:prSet>
      <dgm:spPr/>
    </dgm:pt>
    <dgm:pt modelId="{E667C94A-206C-4BA9-A303-7A08FD6BC246}" type="pres">
      <dgm:prSet presAssocID="{068778BF-E92D-4ABF-AC9A-21DFA17CED6A}" presName="FourNodes_3" presStyleLbl="node1" presStyleIdx="2" presStyleCnt="4">
        <dgm:presLayoutVars>
          <dgm:bulletEnabled val="1"/>
        </dgm:presLayoutVars>
      </dgm:prSet>
      <dgm:spPr/>
    </dgm:pt>
    <dgm:pt modelId="{6188E48E-5670-473B-91CC-4F9C1812FA0A}" type="pres">
      <dgm:prSet presAssocID="{068778BF-E92D-4ABF-AC9A-21DFA17CED6A}" presName="FourNodes_4" presStyleLbl="node1" presStyleIdx="3" presStyleCnt="4">
        <dgm:presLayoutVars>
          <dgm:bulletEnabled val="1"/>
        </dgm:presLayoutVars>
      </dgm:prSet>
      <dgm:spPr/>
    </dgm:pt>
    <dgm:pt modelId="{B73288CD-5B44-4E8F-8B04-B1FEE0FD15C6}" type="pres">
      <dgm:prSet presAssocID="{068778BF-E92D-4ABF-AC9A-21DFA17CED6A}" presName="FourConn_1-2" presStyleLbl="fgAccFollowNode1" presStyleIdx="0" presStyleCnt="3">
        <dgm:presLayoutVars>
          <dgm:bulletEnabled val="1"/>
        </dgm:presLayoutVars>
      </dgm:prSet>
      <dgm:spPr/>
    </dgm:pt>
    <dgm:pt modelId="{21338146-B333-4BC9-B36D-BEC42EAB440F}" type="pres">
      <dgm:prSet presAssocID="{068778BF-E92D-4ABF-AC9A-21DFA17CED6A}" presName="FourConn_2-3" presStyleLbl="fgAccFollowNode1" presStyleIdx="1" presStyleCnt="3">
        <dgm:presLayoutVars>
          <dgm:bulletEnabled val="1"/>
        </dgm:presLayoutVars>
      </dgm:prSet>
      <dgm:spPr/>
    </dgm:pt>
    <dgm:pt modelId="{45E005BA-9D05-4092-BE81-891F43DA1B2A}" type="pres">
      <dgm:prSet presAssocID="{068778BF-E92D-4ABF-AC9A-21DFA17CED6A}" presName="FourConn_3-4" presStyleLbl="fgAccFollowNode1" presStyleIdx="2" presStyleCnt="3">
        <dgm:presLayoutVars>
          <dgm:bulletEnabled val="1"/>
        </dgm:presLayoutVars>
      </dgm:prSet>
      <dgm:spPr/>
    </dgm:pt>
    <dgm:pt modelId="{B696032A-E992-43B3-A319-FA8CCD49D966}" type="pres">
      <dgm:prSet presAssocID="{068778BF-E92D-4ABF-AC9A-21DFA17CED6A}" presName="FourNodes_1_text" presStyleLbl="node1" presStyleIdx="3" presStyleCnt="4">
        <dgm:presLayoutVars>
          <dgm:bulletEnabled val="1"/>
        </dgm:presLayoutVars>
      </dgm:prSet>
      <dgm:spPr/>
    </dgm:pt>
    <dgm:pt modelId="{F7AFC78F-20D7-4405-AC9B-E9F88F3FD663}" type="pres">
      <dgm:prSet presAssocID="{068778BF-E92D-4ABF-AC9A-21DFA17CED6A}" presName="FourNodes_2_text" presStyleLbl="node1" presStyleIdx="3" presStyleCnt="4">
        <dgm:presLayoutVars>
          <dgm:bulletEnabled val="1"/>
        </dgm:presLayoutVars>
      </dgm:prSet>
      <dgm:spPr/>
    </dgm:pt>
    <dgm:pt modelId="{802871F9-468F-40ED-85E0-2C6B4CEA8ED3}" type="pres">
      <dgm:prSet presAssocID="{068778BF-E92D-4ABF-AC9A-21DFA17CED6A}" presName="FourNodes_3_text" presStyleLbl="node1" presStyleIdx="3" presStyleCnt="4">
        <dgm:presLayoutVars>
          <dgm:bulletEnabled val="1"/>
        </dgm:presLayoutVars>
      </dgm:prSet>
      <dgm:spPr/>
    </dgm:pt>
    <dgm:pt modelId="{FD6620DD-E65F-4C60-91F8-E98F68D204E4}" type="pres">
      <dgm:prSet presAssocID="{068778BF-E92D-4ABF-AC9A-21DFA17CED6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B581C05-471D-45B9-9EC9-DA65D0CADA62}" type="presOf" srcId="{92A79E04-D3EA-4DD8-8E56-9BEA70D21DC1}" destId="{6188E48E-5670-473B-91CC-4F9C1812FA0A}" srcOrd="0" destOrd="0" presId="urn:microsoft.com/office/officeart/2005/8/layout/vProcess5"/>
    <dgm:cxn modelId="{1758460E-22C7-43EB-BFD6-7AA92EEC3B71}" type="presOf" srcId="{7C4AD3F5-6DA7-4C6B-AC38-663AB5CA1C78}" destId="{F7AFC78F-20D7-4405-AC9B-E9F88F3FD663}" srcOrd="1" destOrd="0" presId="urn:microsoft.com/office/officeart/2005/8/layout/vProcess5"/>
    <dgm:cxn modelId="{689C910E-808E-4AF4-9914-1E030E6C620D}" type="presOf" srcId="{F734EF5A-0486-4A9B-8312-CD19DAA8EEA1}" destId="{6D40135D-B3C9-491C-9D03-C6B608D3B2A0}" srcOrd="0" destOrd="0" presId="urn:microsoft.com/office/officeart/2005/8/layout/vProcess5"/>
    <dgm:cxn modelId="{4BE08A17-6C3D-413E-BFE3-8F54D69C1EC2}" type="presOf" srcId="{7C4AD3F5-6DA7-4C6B-AC38-663AB5CA1C78}" destId="{84DFB34D-CFD5-436F-B0E4-74C2ED285F70}" srcOrd="0" destOrd="0" presId="urn:microsoft.com/office/officeart/2005/8/layout/vProcess5"/>
    <dgm:cxn modelId="{39423340-7749-493B-A9EF-56479C71C747}" srcId="{068778BF-E92D-4ABF-AC9A-21DFA17CED6A}" destId="{7C4AD3F5-6DA7-4C6B-AC38-663AB5CA1C78}" srcOrd="1" destOrd="0" parTransId="{233C0969-5128-47B7-9C21-C2FB130BB2D1}" sibTransId="{99037354-6755-468C-B35E-4138A3C1EEF0}"/>
    <dgm:cxn modelId="{C4981650-2594-4FFB-AA47-BBF5D72D0835}" type="presOf" srcId="{99037354-6755-468C-B35E-4138A3C1EEF0}" destId="{21338146-B333-4BC9-B36D-BEC42EAB440F}" srcOrd="0" destOrd="0" presId="urn:microsoft.com/office/officeart/2005/8/layout/vProcess5"/>
    <dgm:cxn modelId="{5EF3E551-208C-43A4-B837-983E55C8A3A1}" type="presOf" srcId="{1860E23F-1D2D-4903-B2D2-FB42E9F23F49}" destId="{45E005BA-9D05-4092-BE81-891F43DA1B2A}" srcOrd="0" destOrd="0" presId="urn:microsoft.com/office/officeart/2005/8/layout/vProcess5"/>
    <dgm:cxn modelId="{09A8FD7A-533F-4541-B955-808DCE5E045F}" type="presOf" srcId="{DC0424DF-B61D-4DA6-95EC-F1D99E7C19BF}" destId="{802871F9-468F-40ED-85E0-2C6B4CEA8ED3}" srcOrd="1" destOrd="0" presId="urn:microsoft.com/office/officeart/2005/8/layout/vProcess5"/>
    <dgm:cxn modelId="{1F40C695-4B08-489B-B1C2-4A8B5967AD8E}" type="presOf" srcId="{4CCD256B-A01C-483C-8ABD-90BD22167F33}" destId="{B73288CD-5B44-4E8F-8B04-B1FEE0FD15C6}" srcOrd="0" destOrd="0" presId="urn:microsoft.com/office/officeart/2005/8/layout/vProcess5"/>
    <dgm:cxn modelId="{7283DC9B-F83F-4462-8A98-992A7781E02E}" type="presOf" srcId="{068778BF-E92D-4ABF-AC9A-21DFA17CED6A}" destId="{FA2CDF75-2FD7-4D05-885B-EF8C616465BC}" srcOrd="0" destOrd="0" presId="urn:microsoft.com/office/officeart/2005/8/layout/vProcess5"/>
    <dgm:cxn modelId="{025D2B9F-1815-4AE6-8F6F-80BA91DD8B5F}" type="presOf" srcId="{DC0424DF-B61D-4DA6-95EC-F1D99E7C19BF}" destId="{E667C94A-206C-4BA9-A303-7A08FD6BC246}" srcOrd="0" destOrd="0" presId="urn:microsoft.com/office/officeart/2005/8/layout/vProcess5"/>
    <dgm:cxn modelId="{FFB40FB3-A8E7-4084-A0AC-7CFFD9FF3823}" srcId="{068778BF-E92D-4ABF-AC9A-21DFA17CED6A}" destId="{92A79E04-D3EA-4DD8-8E56-9BEA70D21DC1}" srcOrd="3" destOrd="0" parTransId="{0414E5A9-7D2B-48C5-8BBF-7C53E9B493B7}" sibTransId="{8CDA899A-338D-4708-A6D9-BBD0F6ED973A}"/>
    <dgm:cxn modelId="{0991EFB5-9477-4F1A-B655-6ED47DD23D3C}" srcId="{068778BF-E92D-4ABF-AC9A-21DFA17CED6A}" destId="{F734EF5A-0486-4A9B-8312-CD19DAA8EEA1}" srcOrd="0" destOrd="0" parTransId="{FBB44913-F8F7-4BAD-B352-FF43358BCEC7}" sibTransId="{4CCD256B-A01C-483C-8ABD-90BD22167F33}"/>
    <dgm:cxn modelId="{43E6B5C6-F92A-436A-93C0-83EC6C63DF27}" type="presOf" srcId="{F734EF5A-0486-4A9B-8312-CD19DAA8EEA1}" destId="{B696032A-E992-43B3-A319-FA8CCD49D966}" srcOrd="1" destOrd="0" presId="urn:microsoft.com/office/officeart/2005/8/layout/vProcess5"/>
    <dgm:cxn modelId="{2BA242DB-35D6-4BC4-AA90-132C608DB11F}" type="presOf" srcId="{92A79E04-D3EA-4DD8-8E56-9BEA70D21DC1}" destId="{FD6620DD-E65F-4C60-91F8-E98F68D204E4}" srcOrd="1" destOrd="0" presId="urn:microsoft.com/office/officeart/2005/8/layout/vProcess5"/>
    <dgm:cxn modelId="{955F63F7-094B-4A10-B763-DAD9589B8F81}" srcId="{068778BF-E92D-4ABF-AC9A-21DFA17CED6A}" destId="{DC0424DF-B61D-4DA6-95EC-F1D99E7C19BF}" srcOrd="2" destOrd="0" parTransId="{66E38CD7-68DA-4C3F-942B-B599F0893A54}" sibTransId="{1860E23F-1D2D-4903-B2D2-FB42E9F23F49}"/>
    <dgm:cxn modelId="{A4EBF0FA-F6D2-4BBF-8AF6-01B435964F3A}" type="presParOf" srcId="{FA2CDF75-2FD7-4D05-885B-EF8C616465BC}" destId="{A87949D7-7F94-4B44-9F5A-34E787B63514}" srcOrd="0" destOrd="0" presId="urn:microsoft.com/office/officeart/2005/8/layout/vProcess5"/>
    <dgm:cxn modelId="{FFB2D2E6-68EC-472A-8CB6-235C021B930E}" type="presParOf" srcId="{FA2CDF75-2FD7-4D05-885B-EF8C616465BC}" destId="{6D40135D-B3C9-491C-9D03-C6B608D3B2A0}" srcOrd="1" destOrd="0" presId="urn:microsoft.com/office/officeart/2005/8/layout/vProcess5"/>
    <dgm:cxn modelId="{B0505D13-EC24-4F5D-B33D-F54C76AE3392}" type="presParOf" srcId="{FA2CDF75-2FD7-4D05-885B-EF8C616465BC}" destId="{84DFB34D-CFD5-436F-B0E4-74C2ED285F70}" srcOrd="2" destOrd="0" presId="urn:microsoft.com/office/officeart/2005/8/layout/vProcess5"/>
    <dgm:cxn modelId="{62A1E428-10A6-4F72-9F4A-E38715ABF252}" type="presParOf" srcId="{FA2CDF75-2FD7-4D05-885B-EF8C616465BC}" destId="{E667C94A-206C-4BA9-A303-7A08FD6BC246}" srcOrd="3" destOrd="0" presId="urn:microsoft.com/office/officeart/2005/8/layout/vProcess5"/>
    <dgm:cxn modelId="{98238D24-A1BE-4BBC-B157-E23775E55A80}" type="presParOf" srcId="{FA2CDF75-2FD7-4D05-885B-EF8C616465BC}" destId="{6188E48E-5670-473B-91CC-4F9C1812FA0A}" srcOrd="4" destOrd="0" presId="urn:microsoft.com/office/officeart/2005/8/layout/vProcess5"/>
    <dgm:cxn modelId="{022DA720-B1A2-4770-A6DD-7C2D4A8256ED}" type="presParOf" srcId="{FA2CDF75-2FD7-4D05-885B-EF8C616465BC}" destId="{B73288CD-5B44-4E8F-8B04-B1FEE0FD15C6}" srcOrd="5" destOrd="0" presId="urn:microsoft.com/office/officeart/2005/8/layout/vProcess5"/>
    <dgm:cxn modelId="{73E4E6C8-180B-4B62-9F4E-8CBBEEB7BCAB}" type="presParOf" srcId="{FA2CDF75-2FD7-4D05-885B-EF8C616465BC}" destId="{21338146-B333-4BC9-B36D-BEC42EAB440F}" srcOrd="6" destOrd="0" presId="urn:microsoft.com/office/officeart/2005/8/layout/vProcess5"/>
    <dgm:cxn modelId="{0822A4EC-FC55-4989-9265-6AA56376AC49}" type="presParOf" srcId="{FA2CDF75-2FD7-4D05-885B-EF8C616465BC}" destId="{45E005BA-9D05-4092-BE81-891F43DA1B2A}" srcOrd="7" destOrd="0" presId="urn:microsoft.com/office/officeart/2005/8/layout/vProcess5"/>
    <dgm:cxn modelId="{96A82F57-0A24-47A9-A2CA-4AC4BD32A93A}" type="presParOf" srcId="{FA2CDF75-2FD7-4D05-885B-EF8C616465BC}" destId="{B696032A-E992-43B3-A319-FA8CCD49D966}" srcOrd="8" destOrd="0" presId="urn:microsoft.com/office/officeart/2005/8/layout/vProcess5"/>
    <dgm:cxn modelId="{D8CBA8B9-BB3B-497F-9FED-F4A8ED7C3C68}" type="presParOf" srcId="{FA2CDF75-2FD7-4D05-885B-EF8C616465BC}" destId="{F7AFC78F-20D7-4405-AC9B-E9F88F3FD663}" srcOrd="9" destOrd="0" presId="urn:microsoft.com/office/officeart/2005/8/layout/vProcess5"/>
    <dgm:cxn modelId="{7E183340-2EF1-46E5-8CB5-414900706AD8}" type="presParOf" srcId="{FA2CDF75-2FD7-4D05-885B-EF8C616465BC}" destId="{802871F9-468F-40ED-85E0-2C6B4CEA8ED3}" srcOrd="10" destOrd="0" presId="urn:microsoft.com/office/officeart/2005/8/layout/vProcess5"/>
    <dgm:cxn modelId="{F1F14BE0-C8BB-4023-AAD6-979FC2725F13}" type="presParOf" srcId="{FA2CDF75-2FD7-4D05-885B-EF8C616465BC}" destId="{FD6620DD-E65F-4C60-91F8-E98F68D204E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40135D-B3C9-491C-9D03-C6B608D3B2A0}">
      <dsp:nvSpPr>
        <dsp:cNvPr id="0" name=""/>
        <dsp:cNvSpPr/>
      </dsp:nvSpPr>
      <dsp:spPr>
        <a:xfrm>
          <a:off x="0" y="0"/>
          <a:ext cx="9432376" cy="922417"/>
        </a:xfrm>
        <a:prstGeom prst="roundRect">
          <a:avLst>
            <a:gd name="adj" fmla="val 10000"/>
          </a:avLst>
        </a:prstGeom>
        <a:solidFill>
          <a:srgbClr val="345DA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Conclusion:  “</a:t>
          </a:r>
          <a:r>
            <a:rPr lang="en-IN" sz="2400" b="1" i="1" u="sng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Turning Data into Decisions</a:t>
          </a:r>
          <a:r>
            <a:rPr lang="en-IN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.”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017" y="27017"/>
        <a:ext cx="8359071" cy="868383"/>
      </dsp:txXfrm>
    </dsp:sp>
    <dsp:sp modelId="{84DFB34D-CFD5-436F-B0E4-74C2ED285F70}">
      <dsp:nvSpPr>
        <dsp:cNvPr id="0" name=""/>
        <dsp:cNvSpPr/>
      </dsp:nvSpPr>
      <dsp:spPr>
        <a:xfrm>
          <a:off x="789961" y="1090129"/>
          <a:ext cx="9432376" cy="922417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analysis helps businesses make informed and strategic decisions.</a:t>
          </a:r>
        </a:p>
      </dsp:txBody>
      <dsp:txXfrm>
        <a:off x="816978" y="1117146"/>
        <a:ext cx="7988809" cy="868383"/>
      </dsp:txXfrm>
    </dsp:sp>
    <dsp:sp modelId="{E667C94A-206C-4BA9-A303-7A08FD6BC246}">
      <dsp:nvSpPr>
        <dsp:cNvPr id="0" name=""/>
        <dsp:cNvSpPr/>
      </dsp:nvSpPr>
      <dsp:spPr>
        <a:xfrm>
          <a:off x="1568132" y="2180258"/>
          <a:ext cx="9432376" cy="922417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Visualizing trends improves understanding of performance patterns.</a:t>
          </a:r>
        </a:p>
      </dsp:txBody>
      <dsp:txXfrm>
        <a:off x="1595149" y="2207275"/>
        <a:ext cx="8000599" cy="868383"/>
      </dsp:txXfrm>
    </dsp:sp>
    <dsp:sp modelId="{6188E48E-5670-473B-91CC-4F9C1812FA0A}">
      <dsp:nvSpPr>
        <dsp:cNvPr id="0" name=""/>
        <dsp:cNvSpPr/>
      </dsp:nvSpPr>
      <dsp:spPr>
        <a:xfrm>
          <a:off x="2358093" y="3270387"/>
          <a:ext cx="9432376" cy="922417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Data-driven</a:t>
          </a:r>
          <a:r>
            <a:rPr lang="en-US" sz="2400" kern="1200" dirty="0">
              <a:solidFill>
                <a:schemeClr val="tx1"/>
              </a:solidFill>
            </a:rPr>
            <a:t> planning increases profitability and operational efficiency.</a:t>
          </a:r>
        </a:p>
      </dsp:txBody>
      <dsp:txXfrm>
        <a:off x="2385110" y="3297404"/>
        <a:ext cx="7988809" cy="868383"/>
      </dsp:txXfrm>
    </dsp:sp>
    <dsp:sp modelId="{B73288CD-5B44-4E8F-8B04-B1FEE0FD15C6}">
      <dsp:nvSpPr>
        <dsp:cNvPr id="0" name=""/>
        <dsp:cNvSpPr/>
      </dsp:nvSpPr>
      <dsp:spPr>
        <a:xfrm>
          <a:off x="8832804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967707" y="706487"/>
        <a:ext cx="329765" cy="451177"/>
      </dsp:txXfrm>
    </dsp:sp>
    <dsp:sp modelId="{21338146-B333-4BC9-B36D-BEC42EAB440F}">
      <dsp:nvSpPr>
        <dsp:cNvPr id="0" name=""/>
        <dsp:cNvSpPr/>
      </dsp:nvSpPr>
      <dsp:spPr>
        <a:xfrm>
          <a:off x="9622766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757669" y="1796616"/>
        <a:ext cx="329765" cy="451177"/>
      </dsp:txXfrm>
    </dsp:sp>
    <dsp:sp modelId="{45E005BA-9D05-4092-BE81-891F43DA1B2A}">
      <dsp:nvSpPr>
        <dsp:cNvPr id="0" name=""/>
        <dsp:cNvSpPr/>
      </dsp:nvSpPr>
      <dsp:spPr>
        <a:xfrm>
          <a:off x="10400937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tx1">
              <a:lumMod val="85000"/>
              <a:lumOff val="15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10535840" y="2886746"/>
        <a:ext cx="329765" cy="4511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1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1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0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97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1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54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3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42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0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24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2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53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90C29-D23A-0EA1-A377-5A4D3700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64" r="15288"/>
          <a:stretch>
            <a:fillRect/>
          </a:stretch>
        </p:blipFill>
        <p:spPr>
          <a:xfrm>
            <a:off x="-1540565" y="0"/>
            <a:ext cx="5888853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AF051E-747F-4E88-A158-9AF268071763}"/>
              </a:ext>
            </a:extLst>
          </p:cNvPr>
          <p:cNvSpPr txBox="1"/>
          <p:nvPr/>
        </p:nvSpPr>
        <p:spPr>
          <a:xfrm>
            <a:off x="4561667" y="1488460"/>
            <a:ext cx="75500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 Analysis Using Python  </a:t>
            </a:r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9C294C-5F55-03F3-3661-F612D97148BA}"/>
              </a:ext>
            </a:extLst>
          </p:cNvPr>
          <p:cNvSpPr txBox="1"/>
          <p:nvPr/>
        </p:nvSpPr>
        <p:spPr>
          <a:xfrm>
            <a:off x="5155769" y="3638208"/>
            <a:ext cx="69559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Created By 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Dhruv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Balasaheb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Dhere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Company  :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Puneri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en-IN" sz="2400" b="1" u="sng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 2026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: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Trinity Academy of Engineering ,Pune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86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EB2ED-B284-B65C-A881-A632C137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Magnifying glass showing decling performance">
            <a:extLst>
              <a:ext uri="{FF2B5EF4-FFF2-40B4-BE49-F238E27FC236}">
                <a16:creationId xmlns:a16="http://schemas.microsoft.com/office/drawing/2014/main" id="{2B664966-364F-E4CD-1097-17DFCD25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43" r="14603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485890-DFD7-0B7A-AA7A-786F7B02FE34}"/>
              </a:ext>
            </a:extLst>
          </p:cNvPr>
          <p:cNvSpPr txBox="1"/>
          <p:nvPr/>
        </p:nvSpPr>
        <p:spPr>
          <a:xfrm>
            <a:off x="593787" y="1285167"/>
            <a:ext cx="4416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AEC2B3-B6F2-A7A0-57F8-688062DBFBE6}"/>
              </a:ext>
            </a:extLst>
          </p:cNvPr>
          <p:cNvSpPr txBox="1"/>
          <p:nvPr/>
        </p:nvSpPr>
        <p:spPr>
          <a:xfrm>
            <a:off x="593787" y="2565870"/>
            <a:ext cx="41922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total revenue generated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daily and monthly sales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peak performance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best-performing product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business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99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62BCF-DEFE-05DD-8BD5-9B6234C8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99E5756-631F-7E1E-27D8-3CECC06ADA63}"/>
              </a:ext>
            </a:extLst>
          </p:cNvPr>
          <p:cNvSpPr txBox="1"/>
          <p:nvPr/>
        </p:nvSpPr>
        <p:spPr>
          <a:xfrm>
            <a:off x="282103" y="1238924"/>
            <a:ext cx="44163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Overview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supermarket sales transaction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information about product lines, sales amount, quantity, branch, and payment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an individual sales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used to analyze revenue trends and product performance.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B89D5-FED4-7558-259B-0816B9D51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557" y="511184"/>
            <a:ext cx="7036340" cy="43915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74E85D-DD36-A4E4-1647-D4861A7F7186}"/>
              </a:ext>
            </a:extLst>
          </p:cNvPr>
          <p:cNvSpPr txBox="1"/>
          <p:nvPr/>
        </p:nvSpPr>
        <p:spPr>
          <a:xfrm>
            <a:off x="6096000" y="5301574"/>
            <a:ext cx="5175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📄 Total Records: </a:t>
            </a:r>
            <a:r>
              <a:rPr lang="en-US" b="1" dirty="0"/>
              <a:t>1000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📊 Total Features: </a:t>
            </a:r>
            <a:r>
              <a:rPr lang="en-US" b="1" dirty="0"/>
              <a:t>17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🏬 Data Type: Transaction-level retail sales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79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8E9D1-03EA-8835-5161-24BA3EFC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FADF7EE-7329-0D9A-E7DE-FE75B5250034}"/>
              </a:ext>
            </a:extLst>
          </p:cNvPr>
          <p:cNvSpPr txBox="1"/>
          <p:nvPr/>
        </p:nvSpPr>
        <p:spPr>
          <a:xfrm>
            <a:off x="282104" y="1208784"/>
            <a:ext cx="52432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</a:t>
            </a:r>
          </a:p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programming language used for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manipulation and aggregation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Numerical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Basic data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and attractive visualizations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(Anaconda)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Development environment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B8E9C7-421E-304F-CE3F-0DF6D176F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27" t="19035" r="9871" b="9640"/>
          <a:stretch>
            <a:fillRect/>
          </a:stretch>
        </p:blipFill>
        <p:spPr>
          <a:xfrm>
            <a:off x="5525312" y="1128409"/>
            <a:ext cx="6384584" cy="49124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578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213B2-D823-1CC4-E6D1-774668F72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3ED481-E528-5E2C-2FD9-EC9C2B9E5823}"/>
              </a:ext>
            </a:extLst>
          </p:cNvPr>
          <p:cNvSpPr txBox="1"/>
          <p:nvPr/>
        </p:nvSpPr>
        <p:spPr>
          <a:xfrm>
            <a:off x="337226" y="1012953"/>
            <a:ext cx="437096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Preparation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dataset structure using df.info()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missing values and data types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into datetime format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Date for monthly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for time-based aggregation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A7E14-1447-8CEC-978F-5CDEAA32E5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9" b="3123"/>
          <a:stretch>
            <a:fillRect/>
          </a:stretch>
        </p:blipFill>
        <p:spPr>
          <a:xfrm>
            <a:off x="4620638" y="1158658"/>
            <a:ext cx="7386535" cy="41915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308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205C5-D83C-0075-C63D-30AFBFD0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C707994-2CBE-2774-6807-DC7C799B054C}"/>
              </a:ext>
            </a:extLst>
          </p:cNvPr>
          <p:cNvSpPr txBox="1"/>
          <p:nvPr/>
        </p:nvSpPr>
        <p:spPr>
          <a:xfrm>
            <a:off x="337225" y="1293781"/>
            <a:ext cx="495462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Analysis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total revenue generated during the selected time period.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all sales transactions to measure overall business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provides a high-level view of financial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26461-05B2-6BCC-BEA5-D0EE58144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584" y="1293781"/>
            <a:ext cx="6339191" cy="18500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FC246A-7650-D377-B8D6-57392E328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09" t="11718" r="7578" b="13990"/>
          <a:stretch>
            <a:fillRect/>
          </a:stretch>
        </p:blipFill>
        <p:spPr>
          <a:xfrm>
            <a:off x="6442953" y="3714166"/>
            <a:ext cx="4484452" cy="245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6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E54CA-C465-920E-D04B-41AD2B59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4745FBB-11D7-90BE-FE8F-6BCA518D61ED}"/>
              </a:ext>
            </a:extLst>
          </p:cNvPr>
          <p:cNvSpPr txBox="1"/>
          <p:nvPr/>
        </p:nvSpPr>
        <p:spPr>
          <a:xfrm>
            <a:off x="629056" y="1012953"/>
            <a:ext cx="437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Sales Trend Analysis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Sales revenue varies significantly across days.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Multiple peak revenue days were observed during the period.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Fluctuations indicate possible promotional or seasonal effects.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Time-series analysis helps in identifying demand patterns.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84DAE-7162-6E82-81CD-3506818E5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864" y="588827"/>
            <a:ext cx="6226080" cy="53725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219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9D69E-B73F-7F03-7035-6B5E32CC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59A7E0-0ED2-6441-197E-04E32D30BF5E}"/>
              </a:ext>
            </a:extLst>
          </p:cNvPr>
          <p:cNvSpPr txBox="1"/>
          <p:nvPr/>
        </p:nvSpPr>
        <p:spPr>
          <a:xfrm>
            <a:off x="629056" y="1012953"/>
            <a:ext cx="437096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Performance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Aggregated sales data on a monthly basis.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Compared revenue performance across January, February, and March.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Identified the highest and lowest performing months.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Monthly analysis helps detect seasonal patterns and revenue growth trends.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B018E-90E7-992E-3F30-6C746100A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833" y="738021"/>
            <a:ext cx="6454699" cy="51972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229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35B2F-27DA-EEA7-BFF7-73FD5755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FEE245E-8130-AEA6-8B78-FE32118073FB}"/>
              </a:ext>
            </a:extLst>
          </p:cNvPr>
          <p:cNvSpPr txBox="1"/>
          <p:nvPr/>
        </p:nvSpPr>
        <p:spPr>
          <a:xfrm>
            <a:off x="415048" y="954587"/>
            <a:ext cx="437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Best-Selling Product Analysis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Grouped sales data by product line to measure category-wise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Compared total revenue generated by each product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Identified the highest-performing product 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Product-level analysis helps optimize inventory and marketing strategies.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F7C27B-80C5-FE34-61F5-6139A29CC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28" y="462762"/>
            <a:ext cx="7081737" cy="5932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657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400C9B-3E8A-FD34-0473-0E22D2E46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57426F-C405-CED3-C556-11F0B711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2374"/>
            <a:ext cx="12192000" cy="758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6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5" name="Rectangle 4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641" y="349112"/>
            <a:ext cx="1102168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418" name="Content Placeholder 2">
            <a:extLst>
              <a:ext uri="{FF2B5EF4-FFF2-40B4-BE49-F238E27FC236}">
                <a16:creationId xmlns:a16="http://schemas.microsoft.com/office/drawing/2014/main" id="{72E9DC96-70D5-6714-6A3B-445DDDC9F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465327"/>
              </p:ext>
            </p:extLst>
          </p:nvPr>
        </p:nvGraphicFramePr>
        <p:xfrm>
          <a:off x="399641" y="2112579"/>
          <a:ext cx="11790470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410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368FA-DCEE-5A3A-E407-62E08CFF2CD3}"/>
              </a:ext>
            </a:extLst>
          </p:cNvPr>
          <p:cNvSpPr txBox="1"/>
          <p:nvPr/>
        </p:nvSpPr>
        <p:spPr>
          <a:xfrm>
            <a:off x="4328738" y="3105834"/>
            <a:ext cx="3531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95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409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dhruv dhere</cp:lastModifiedBy>
  <cp:revision>283</cp:revision>
  <dcterms:created xsi:type="dcterms:W3CDTF">2025-11-19T16:33:05Z</dcterms:created>
  <dcterms:modified xsi:type="dcterms:W3CDTF">2026-05-15T08:56:51Z</dcterms:modified>
</cp:coreProperties>
</file>